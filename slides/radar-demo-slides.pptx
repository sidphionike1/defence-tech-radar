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43FF9A"/>
                </a:solidFill>
                <a:latin typeface="Consolas"/>
              </a:rPr>
              <a:t>LO-TARGET RADAR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8D9B95"/>
                </a:solidFill>
                <a:latin typeface="Consolas"/>
              </a:rPr>
              <a:t>Low-observable detection — multistatic sensor fusion + ML + Claude sitreps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EAFFF4"/>
                </a:solidFill>
                <a:latin typeface="Consolas"/>
              </a:rPr>
              <a:t>Conventional radar applies ONE fixed threshold to ONE sensor.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8D9B95"/>
                </a:solidFill>
                <a:latin typeface="Consolas"/>
              </a:rPr>
              <a:t>Small drones and stealth-shaped targets sit at the noise floor — and simply never appear.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880360"/>
            <a:ext cx="5394960" cy="2651760"/>
          </a:xfrm>
          <a:prstGeom prst="rect">
            <a:avLst/>
          </a:prstGeom>
          <a:solidFill>
            <a:srgbClr val="07190F"/>
          </a:solidFill>
          <a:ln w="15875">
            <a:solidFill>
              <a:srgbClr val="FF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FF5577"/>
                </a:solidFill>
                <a:latin typeface="Consolas"/>
              </a:rPr>
              <a:t>CONVENTIONAL THRESHOLD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EAFFF4"/>
                </a:solidFill>
                <a:latin typeface="Consolas"/>
              </a:rPr>
              <a:t>detected = primary SNR &gt; 10 dB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577"/>
                </a:solidFill>
                <a:latin typeface="Consolas"/>
              </a:rPr>
              <a:t>▸ </a:t>
            </a:r>
            <a:r>
              <a:rPr sz="1300" b="0">
                <a:solidFill>
                  <a:srgbClr val="8D9B95"/>
                </a:solidFill>
                <a:latin typeface="Consolas"/>
              </a:rPr>
              <a:t>Stealth contact at 2–8 dB → below threshold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577"/>
                </a:solidFill>
                <a:latin typeface="Consolas"/>
              </a:rPr>
              <a:t>▸ </a:t>
            </a:r>
            <a:r>
              <a:rPr sz="1300" b="0">
                <a:solidFill>
                  <a:srgbClr val="8D9B95"/>
                </a:solidFill>
                <a:latin typeface="Consolas"/>
              </a:rPr>
              <a:t>0 of 6 low-observable targets detected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F5577"/>
                </a:solidFill>
                <a:latin typeface="Consolas"/>
              </a:rPr>
              <a:t>▸ </a:t>
            </a:r>
            <a:r>
              <a:rPr sz="1300" b="0">
                <a:solidFill>
                  <a:srgbClr val="8D9B95"/>
                </a:solidFill>
                <a:latin typeface="Consolas"/>
              </a:rPr>
              <a:t>A permanent blind spot — by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3640" y="2880360"/>
            <a:ext cx="5394960" cy="2651760"/>
          </a:xfrm>
          <a:prstGeom prst="rect">
            <a:avLst/>
          </a:prstGeom>
          <a:solidFill>
            <a:srgbClr val="07190F"/>
          </a:solidFill>
          <a:ln w="15875">
            <a:solidFill>
              <a:srgbClr val="43F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82880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43FF9A"/>
                </a:solidFill>
                <a:latin typeface="Consolas"/>
              </a:rPr>
              <a:t>FUSION + ML (this project)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FF9A"/>
                </a:solidFill>
                <a:latin typeface="Consolas"/>
              </a:rPr>
              <a:t>▸ </a:t>
            </a:r>
            <a:r>
              <a:rPr sz="1300" b="0">
                <a:solidFill>
                  <a:srgbClr val="EAFFF4"/>
                </a:solidFill>
                <a:latin typeface="Consolas"/>
              </a:rPr>
              <a:t>3 separated receivers · RCS is angle-dependent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FF9A"/>
                </a:solidFill>
                <a:latin typeface="Consolas"/>
              </a:rPr>
              <a:t>▸ </a:t>
            </a:r>
            <a:r>
              <a:rPr sz="1300" b="0">
                <a:solidFill>
                  <a:srgbClr val="EAFFF4"/>
                </a:solidFill>
                <a:latin typeface="Consolas"/>
              </a:rPr>
              <a:t>Fused confidence — same 10 dB-equivalent rule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FF9A"/>
                </a:solidFill>
                <a:latin typeface="Consolas"/>
              </a:rPr>
              <a:t>▸ </a:t>
            </a:r>
            <a:r>
              <a:rPr sz="1300" b="0">
                <a:solidFill>
                  <a:srgbClr val="EAFFF4"/>
                </a:solidFill>
                <a:latin typeface="Consolas"/>
              </a:rPr>
              <a:t>RandomForest classifies · IsolationForest flags anomalies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43FF9A"/>
                </a:solidFill>
                <a:latin typeface="Consolas"/>
              </a:rPr>
              <a:t>▸ </a:t>
            </a:r>
            <a:r>
              <a:rPr sz="1300" b="0">
                <a:solidFill>
                  <a:srgbClr val="EAFFF4"/>
                </a:solidFill>
                <a:latin typeface="Consolas"/>
              </a:rPr>
              <a:t>Claude writes the operator's situation report on click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43FF9A"/>
                </a:solidFill>
                <a:latin typeface="Consolas"/>
              </a:rPr>
              <a:t>“No single sensor was confident. Combined, they are.”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D9B95"/>
                </a:solidFill>
                <a:latin typeface="Consolas"/>
              </a:rPr>
              <a:t>The same math behind real counter-stealth systems — and fraud, intrusion &amp; IoT anomaly detection.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43FF9A"/>
                </a:solidFill>
                <a:latin typeface="Consolas"/>
              </a:rPr>
              <a:t>LIVE: SINGLE THRESHOLD MISSES IT — FUSION + ML CATCHES IT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8D9B95"/>
                </a:solidFill>
                <a:latin typeface="Consolas"/>
              </a:rPr>
              <a:t>46 seeded targets · two scopes, same airspace · end-to-end pipeline built in under an hour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602736" cy="1691640"/>
          </a:xfrm>
          <a:prstGeom prst="rect">
            <a:avLst/>
          </a:prstGeom>
          <a:solidFill>
            <a:srgbClr val="07190F"/>
          </a:solidFill>
          <a:ln w="15875">
            <a:solidFill>
              <a:srgbClr val="FF55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FF5577"/>
                </a:solidFill>
                <a:latin typeface="Consolas"/>
              </a:rPr>
              <a:t>0%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stealth targets caught by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conventional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06824" y="1600200"/>
            <a:ext cx="3602736" cy="1691640"/>
          </a:xfrm>
          <a:prstGeom prst="rect">
            <a:avLst/>
          </a:prstGeom>
          <a:solidFill>
            <a:srgbClr val="07190F"/>
          </a:solidFill>
          <a:ln w="15875">
            <a:solidFill>
              <a:srgbClr val="43F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43FF9A"/>
                </a:solidFill>
                <a:latin typeface="Consolas"/>
              </a:rPr>
              <a:t>100%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caught by sensor fusion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(6 of 6 recovered)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65008" y="1600200"/>
            <a:ext cx="3602736" cy="1691640"/>
          </a:xfrm>
          <a:prstGeom prst="rect">
            <a:avLst/>
          </a:prstGeom>
          <a:solidFill>
            <a:srgbClr val="07190F"/>
          </a:solidFill>
          <a:ln w="15875">
            <a:solidFill>
              <a:srgbClr val="4DA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spcAft>
                <a:spcPts val="200"/>
              </a:spcAft>
            </a:pPr>
            <a:r>
              <a:rPr sz="4400" b="1">
                <a:solidFill>
                  <a:srgbClr val="4DABF7"/>
                </a:solidFill>
                <a:latin typeface="Consolas"/>
              </a:rPr>
              <a:t>&lt;3 s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click-to-explain — Claude sitrep,</a:t>
            </a:r>
          </a:p>
          <a:p>
            <a:pPr algn="ctr">
              <a:spcAft>
                <a:spcPts val="0"/>
              </a:spcAft>
            </a:pPr>
            <a:r>
              <a:rPr sz="1250" b="0">
                <a:solidFill>
                  <a:srgbClr val="EAFFF4"/>
                </a:solidFill>
                <a:latin typeface="Consolas"/>
              </a:rPr>
              <a:t>fallback if offline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5394960" cy="2377440"/>
          </a:xfrm>
          <a:prstGeom prst="rect">
            <a:avLst/>
          </a:prstGeom>
          <a:solidFill>
            <a:srgbClr val="07190F"/>
          </a:solidFill>
          <a:ln w="15875">
            <a:solidFill>
              <a:srgbClr val="43F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3FF9A"/>
                </a:solidFill>
                <a:latin typeface="Consolas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3FF9A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numpy generator (seed 42): 40 normal + 6 stealth targets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3FF9A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FastAPI serves baseline vs fused detections, polled at 1.5 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3FF9A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RandomForest + IsolationForest train at startup in &lt;2 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3FF9A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Startup assertion guarantees the recovery moment exists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3FF9A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Claude (claude-sonnet-4-6) explains any contact on click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611880"/>
            <a:ext cx="5394960" cy="2377440"/>
          </a:xfrm>
          <a:prstGeom prst="rect">
            <a:avLst/>
          </a:prstGeom>
          <a:solidFill>
            <a:srgbClr val="07190F"/>
          </a:solidFill>
          <a:ln w="15875">
            <a:solidFill>
              <a:srgbClr val="4DAB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 tIns="164592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DABF7"/>
                </a:solidFill>
                <a:latin typeface="Consolas"/>
              </a:rPr>
              <a:t>BUILT IN PARALLEL, INTEGRATED IN MINUTES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DABF7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API contract locked in the first 5 minutes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DABF7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Frontend built on a seeded in-browser mock of the backend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DABF7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Real captured backend output kept in-repo as ground truth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DABF7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Integration = one flag flip (USE_MOCK) — not a rebuild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4DABF7"/>
                </a:solidFill>
                <a:latin typeface="Consolas"/>
              </a:rPr>
              <a:t>▸ </a:t>
            </a:r>
            <a:r>
              <a:rPr sz="1250" b="0">
                <a:solidFill>
                  <a:srgbClr val="EAFFF4"/>
                </a:solidFill>
                <a:latin typeface="Consolas"/>
              </a:rPr>
              <a:t>?api=mock still runs the full UI with zero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8D9B95"/>
                </a:solidFill>
                <a:latin typeface="Consolas"/>
              </a:rPr>
              <a:t>Pranav — backend/ML · Sid — frontend · Shubhangi — docs, QA &amp; demo   |   FastAPI · scikit-learn · Canvas/vanilla JS · Claude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